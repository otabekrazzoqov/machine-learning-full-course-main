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Minority (stable) F1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Baseline</c:v>
                  </c:pt>
                  <c:pt idx="1">
                    <c:v>NearMiss</c:v>
                  </c:pt>
                  <c:pt idx="2">
                    <c:v>SMOTE</c:v>
                  </c:pt>
                  <c:pt idx="3">
                    <c:v>Random
Undersample</c:v>
                  </c:pt>
                  <c:pt idx="4">
                    <c:v>ADASYN</c:v>
                  </c:pt>
                  <c:pt idx="5">
                    <c:v>Random
Oversample</c:v>
                  </c:pt>
                  <c:pt idx="6">
                    <c:v>Cluster
Centroids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0.344</c:v>
                </c:pt>
                <c:pt idx="1">
                  <c:v>0.33</c:v>
                </c:pt>
                <c:pt idx="2">
                  <c:v>0.231</c:v>
                </c:pt>
                <c:pt idx="3">
                  <c:v>0.226</c:v>
                </c:pt>
                <c:pt idx="4">
                  <c:v>0.224</c:v>
                </c:pt>
                <c:pt idx="5">
                  <c:v>0.223</c:v>
                </c:pt>
                <c:pt idx="6">
                  <c:v>0.217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B3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28016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73736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73152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03120" y="137160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46304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192024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19456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37744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377440" y="91440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54864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210312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64592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82296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64008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109728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97280" y="274320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20240" y="2651760"/>
            <a:ext cx="146304" cy="146304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146304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1828800"/>
            <a:ext cx="182880" cy="1828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PROBLEM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rare classes get ignored, and what to do about it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Techniques  ·  Oversampling  ·  Undersampling  ·  Case Study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6035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Otabek  ·  ML Engineering Notes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02920" cy="502920"/>
          </a:xfrm>
          <a:prstGeom prst="ellipse">
            <a:avLst/>
          </a:prstGeom>
          <a:solidFill>
            <a:srgbClr val="E7F4F3"/>
          </a:solidFill>
          <a:ln/>
        </p:spPr>
      </p:sp>
      <p:pic>
        <p:nvPicPr>
          <p:cNvPr id="4" name="Image 0" descr="icon_balanc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6276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441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6304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class imbalance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18013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real-world data rarely arrives evenly split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E7F4F3"/>
          </a:solidFill>
          <a:ln/>
        </p:spPr>
      </p:sp>
      <p:pic>
        <p:nvPicPr>
          <p:cNvPr id="9" name="Image 1" descr="icon_warning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54203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2585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46304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breaks models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463040" y="27157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lies; minority classes get ignored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E7F4F3"/>
          </a:solidFill>
          <a:ln/>
        </p:spPr>
      </p:sp>
      <p:pic>
        <p:nvPicPr>
          <p:cNvPr id="14" name="Image 2" descr="icon_layers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5643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" y="31729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463040" y="3310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techniques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63040" y="36301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and undersampling, six methods total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31520" y="4251960"/>
            <a:ext cx="502920" cy="502920"/>
          </a:xfrm>
          <a:prstGeom prst="ellipse">
            <a:avLst/>
          </a:prstGeom>
          <a:solidFill>
            <a:srgbClr val="E7F4F3"/>
          </a:solidFill>
          <a:ln/>
        </p:spPr>
      </p:sp>
      <p:pic>
        <p:nvPicPr>
          <p:cNvPr id="19" name="Image 3" descr="icon_search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37083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" y="40873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463040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463040" y="45445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 Stability dataset, real results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31520" y="5166360"/>
            <a:ext cx="502920" cy="502920"/>
          </a:xfrm>
          <a:prstGeom prst="ellipse">
            <a:avLst/>
          </a:prstGeom>
          <a:solidFill>
            <a:srgbClr val="E7F4F3"/>
          </a:solidFill>
          <a:ln/>
        </p:spPr>
      </p:sp>
      <p:pic>
        <p:nvPicPr>
          <p:cNvPr id="24" name="Image 4" descr="icon_lis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285232"/>
            <a:ext cx="265176" cy="2651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" y="50017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463040" y="5138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fix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1463040" y="545896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+ a free alternative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 problem?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definition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E7F4F3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3258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happens when one class (majority) vastly outnumbers another (minority) in your target variable — sometimes 100:1, sometimes 1000:1.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up almost everywhere in real-world data: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~0.1%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2004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~2-5%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66160" y="4251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screening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the condition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~5-15%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emails in an inbox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06840" y="320040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0" y="34290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~3-8%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44000" y="4251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 risk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0" y="4709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actually laid off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model can be “accurate” and useless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3D42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lazy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transactions are legit.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always predicts “legit” — never even looking at the data — gets: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 accuracy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fraud caught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B8D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function barely notices the minority class, because getting it all wrong costs almost nothing on average.</a:t>
            </a:r>
            <a:endParaRPr lang="en-US" sz="1250" dirty="0"/>
          </a:p>
        </p:txBody>
      </p:sp>
      <p:pic>
        <p:nvPicPr>
          <p:cNvPr id="9" name="Image 0" descr="icon_warning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373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classes get ignored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37960" y="2057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incentive to learn their patterns.</a:t>
            </a:r>
            <a:endParaRPr lang="en-US" sz="1250" dirty="0"/>
          </a:p>
        </p:txBody>
      </p:sp>
      <p:pic>
        <p:nvPicPr>
          <p:cNvPr id="12" name="Image 1" descr="icon_warning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8803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minority-class performance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3200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recall/precision exactly where it matters most.</a:t>
            </a:r>
            <a:endParaRPr lang="en-US" sz="1250" dirty="0"/>
          </a:p>
        </p:txBody>
      </p:sp>
      <p:pic>
        <p:nvPicPr>
          <p:cNvPr id="15" name="Image 2" descr="icon_warning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02336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977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Biased, overfit behavior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37960" y="4343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overall score hides a model that learned almost nothing useful.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943600" y="516636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E7F4F3"/>
          </a:solidFill>
          <a:ln/>
        </p:spPr>
      </p:sp>
      <p:sp>
        <p:nvSpPr>
          <p:cNvPr id="19" name="Text 14"/>
          <p:cNvSpPr/>
          <p:nvPr/>
        </p:nvSpPr>
        <p:spPr>
          <a:xfrm>
            <a:off x="6172200" y="51663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precision, recall, F1, or per-class ROC-AUC — never accuracy alone.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fix the balance: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Oversampling &amp; Undersampling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sampling toolkit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the training data BEFORE training — always split train/test first, resample only the training set.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_cop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00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— add minority samples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7F4F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4688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Oversampling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7F4F3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3832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E7F4F3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42976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ADASYN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26480" y="16002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icon_cu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12280" y="16002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 — remove majority samples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126480" y="2468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BE9E9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0" y="24688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Undersampling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126480" y="3383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BE9E9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ClusterCentroids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126480" y="42976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4297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NearMiss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B3D42"/>
          </a:solidFill>
          <a:ln/>
        </p:spPr>
      </p:sp>
      <p:sp>
        <p:nvSpPr>
          <p:cNvPr id="23" name="Text 19"/>
          <p:cNvSpPr/>
          <p:nvPr/>
        </p:nvSpPr>
        <p:spPr>
          <a:xfrm>
            <a:off x="914400" y="54864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improve generalization and fairness across classes, not just raw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Oversampling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92640" y="50292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969264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random rows from the minority class until both classes have equal counts.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760720" cy="4206240"/>
          </a:xfrm>
          <a:prstGeom prst="roundRect">
            <a:avLst>
              <a:gd name="adj" fmla="val 2174"/>
            </a:avLst>
          </a:prstGeom>
          <a:solidFill>
            <a:srgbClr val="031A1D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57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imblearn.over_sampling import RandomOverSampler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 = RandomOverSampler(random_state=42)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ros.fit_resample(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y_train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1,125 stable / 28,710 unstable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28,710 stable / 28,710 unstable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duplicates — same rows repeated many times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828800"/>
            <a:ext cx="4846320" cy="1920240"/>
          </a:xfrm>
          <a:prstGeom prst="roundRect">
            <a:avLst>
              <a:gd name="adj" fmla="val 4762"/>
            </a:avLst>
          </a:prstGeom>
          <a:solidFill>
            <a:srgbClr val="E7F4F3"/>
          </a:solidFill>
          <a:ln/>
        </p:spPr>
      </p:sp>
      <p:pic>
        <p:nvPicPr>
          <p:cNvPr id="12" name="Image 0" descr="icon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0116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6948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03720" y="24231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 to apply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assumptions about data structure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5120" y="3931920"/>
            <a:ext cx="4846320" cy="2103120"/>
          </a:xfrm>
          <a:prstGeom prst="roundRect">
            <a:avLst>
              <a:gd name="adj" fmla="val 4348"/>
            </a:avLst>
          </a:prstGeom>
          <a:solidFill>
            <a:srgbClr val="FBE9E9"/>
          </a:solidFill>
          <a:ln/>
        </p:spPr>
      </p:sp>
      <p:pic>
        <p:nvPicPr>
          <p:cNvPr id="16" name="Image 1" descr="icon_cros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1148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903720" y="4526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duplicates risk overfitting — model can memorize repeated rows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information added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Technique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0" y="50292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duplicating, SMOTE creates NEW synthetic points along the line between a minority sample and its nearest minority neighbors.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88720" y="283464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2377440"/>
            <a:ext cx="256032" cy="25603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1316736" y="2962656"/>
            <a:ext cx="1426464" cy="-457200"/>
          </a:xfrm>
          <a:prstGeom prst="line">
            <a:avLst/>
          </a:prstGeom>
          <a:noFill/>
          <a:ln w="19050">
            <a:solidFill>
              <a:srgbClr val="C9D9D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920240" y="2697480"/>
            <a:ext cx="201168" cy="201168"/>
          </a:xfrm>
          <a:prstGeom prst="ellipse">
            <a:avLst/>
          </a:prstGeom>
          <a:solidFill>
            <a:srgbClr val="F4A3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point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6888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3246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synthetic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31920" y="2286000"/>
            <a:ext cx="7040880" cy="1371600"/>
          </a:xfrm>
          <a:prstGeom prst="roundRect">
            <a:avLst>
              <a:gd name="adj" fmla="val 6667"/>
            </a:avLst>
          </a:prstGeom>
          <a:solidFill>
            <a:srgbClr val="031A1D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0" y="246888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imblearn.over_sampling import SMOTE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smote = SMOTE(random_state=42, k_neighbors=5)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smote.fit_resample(X_train, y_train)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E7F4F3"/>
          </a:solidFill>
          <a:ln/>
        </p:spPr>
      </p:sp>
      <p:pic>
        <p:nvPicPr>
          <p:cNvPr id="17" name="Image 0" descr="icon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062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3444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46177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variety instead of exact copies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overfitting risk than random oversampling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26480" y="40233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BE9E9"/>
          </a:solidFill>
          <a:ln/>
        </p:spPr>
      </p:sp>
      <p:pic>
        <p:nvPicPr>
          <p:cNvPr id="21" name="Image 1" descr="icon_cros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20624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2084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355080" y="4617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create unrealistic points if minority data is spread out or near majority clusters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only (use SMOTENC for categorical)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ADASYN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Synthetic Sampling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0" y="50292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refinement of SMOTE: generates MORE synthetic points where the minority class is hardest to learn (near the boundary), and FEWER where it's already easy.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31A1D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542032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imblearn.over_sampling import ADASYN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adasyn = ADASYN(random_state=42, n_neighbors=5)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adasyn.fit_resample(X_train, y_train)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E7F4F3"/>
          </a:solidFill>
          <a:ln/>
        </p:spPr>
      </p:sp>
      <p:pic>
        <p:nvPicPr>
          <p:cNvPr id="10" name="Image 0" descr="icon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233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4348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effort where the model actually struggles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improves classification right at the decision boundary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3840480"/>
            <a:ext cx="5394960" cy="2560320"/>
          </a:xfrm>
          <a:prstGeom prst="roundRect">
            <a:avLst>
              <a:gd name="adj" fmla="val 3571"/>
            </a:avLst>
          </a:prstGeom>
          <a:solidFill>
            <a:srgbClr val="FBE9E9"/>
          </a:solidFill>
          <a:ln/>
        </p:spPr>
      </p:sp>
      <p:pic>
        <p:nvPicPr>
          <p:cNvPr id="14" name="Image 1" descr="icon_cros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02336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2084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355080" y="4434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sensitive to noise — an outlier surrounded by majority points gets oversampled too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Undersampling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0" y="502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random rows from the majority class until both classes are equal in size.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760720" cy="4206240"/>
          </a:xfrm>
          <a:prstGeom prst="roundRect">
            <a:avLst>
              <a:gd name="adj" fmla="val 2174"/>
            </a:avLst>
          </a:prstGeom>
          <a:solidFill>
            <a:srgbClr val="031A1D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57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imblearn.under_sampling import RandomUnderSampler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 = RandomUnderSampler(random_state=42)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rus.fit_resample(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y_train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1,125 stable / 28,710 unstable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 1,125 stable / 1,125 unstable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C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shrinks dramatically — a lot of majority-class data is simply thrown away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828800"/>
            <a:ext cx="4846320" cy="1920240"/>
          </a:xfrm>
          <a:prstGeom prst="roundRect">
            <a:avLst>
              <a:gd name="adj" fmla="val 4762"/>
            </a:avLst>
          </a:prstGeom>
          <a:solidFill>
            <a:srgbClr val="E7F4F3"/>
          </a:solidFill>
          <a:ln/>
        </p:spPr>
      </p:sp>
      <p:pic>
        <p:nvPicPr>
          <p:cNvPr id="12" name="Image 0" descr="icon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0116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6948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903720" y="24231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smaller dataset trains quicker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apply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5120" y="3931920"/>
            <a:ext cx="4846320" cy="2103120"/>
          </a:xfrm>
          <a:prstGeom prst="roundRect">
            <a:avLst>
              <a:gd name="adj" fmla="val 4348"/>
            </a:avLst>
          </a:prstGeom>
          <a:solidFill>
            <a:srgbClr val="FBE9E9"/>
          </a:solidFill>
          <a:ln/>
        </p:spPr>
      </p:sp>
      <p:pic>
        <p:nvPicPr>
          <p:cNvPr id="16" name="Image 1" descr="icon_cros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41148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903720" y="45262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away potentially useful majority-class information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hurt performance if majority class wasn't actually redundant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ClusterCentroids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0" y="502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the majority class with K-Means, then replaces each cluster with its centroid — a synthetic representative point — instead of picking real rows.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146304" cy="146304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468880"/>
            <a:ext cx="146304" cy="146304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651760"/>
            <a:ext cx="146304" cy="146304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743200"/>
            <a:ext cx="146304" cy="146304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926080"/>
            <a:ext cx="146304" cy="146304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468880"/>
            <a:ext cx="146304" cy="146304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63040" y="2606040"/>
            <a:ext cx="1188720" cy="0"/>
          </a:xfrm>
          <a:prstGeom prst="line">
            <a:avLst/>
          </a:prstGeom>
          <a:noFill/>
          <a:ln w="19050">
            <a:solidFill>
              <a:srgbClr val="C9D9D9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697480" y="2450592"/>
            <a:ext cx="310896" cy="310896"/>
          </a:xfrm>
          <a:prstGeom prst="ellipse">
            <a:avLst/>
          </a:prstGeom>
          <a:solidFill>
            <a:srgbClr val="F4A3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2316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(synthetic point)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0" y="2103120"/>
            <a:ext cx="7040880" cy="1371600"/>
          </a:xfrm>
          <a:prstGeom prst="roundRect">
            <a:avLst>
              <a:gd name="adj" fmla="val 6667"/>
            </a:avLst>
          </a:prstGeom>
          <a:solidFill>
            <a:srgbClr val="031A1D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06240" y="2286000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imblearn.under_sampling import ClusterCentroids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= ClusterCentroids(random_state=42)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cc.fit_resample(X_train, y_train)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5212080" cy="2377440"/>
          </a:xfrm>
          <a:prstGeom prst="roundRect">
            <a:avLst>
              <a:gd name="adj" fmla="val 3846"/>
            </a:avLst>
          </a:prstGeom>
          <a:solidFill>
            <a:srgbClr val="E7F4F3"/>
          </a:solidFill>
          <a:ln/>
        </p:spPr>
      </p:sp>
      <p:pic>
        <p:nvPicPr>
          <p:cNvPr id="19" name="Image 0" descr="icon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0624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3444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8680" y="46177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the overall shape of the majority class distribution better than random dropping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26480" y="40233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BE9E9"/>
          </a:solidFill>
          <a:ln/>
        </p:spPr>
      </p:sp>
      <p:pic>
        <p:nvPicPr>
          <p:cNvPr id="23" name="Image 1" descr="icon_cros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20624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720840" y="4187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355080" y="4617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are synthetic — real data points are lost entirely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heavier (runs K-Means)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NearMiss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509760" y="50292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0" y="502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surgical approach: keeps the majority points CLOSEST to the minority class (near the boundary) and removes the “easy”, far-away majority points.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31A1D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12848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imblearn.under_sampling import NearMiss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 = NearMiss(version=1, n_neighbors=3)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X_res, y_res = nm.fit_resample(X_train, y_train)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212080" cy="2880360"/>
          </a:xfrm>
          <a:prstGeom prst="roundRect">
            <a:avLst>
              <a:gd name="adj" fmla="val 3175"/>
            </a:avLst>
          </a:prstGeom>
          <a:solidFill>
            <a:srgbClr val="E7F4F3"/>
          </a:solidFill>
          <a:ln/>
        </p:spPr>
      </p:sp>
      <p:pic>
        <p:nvPicPr>
          <p:cNvPr id="9" name="Image 0" descr="icon_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033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1148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majority samples that actually define the decision boundary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the best balance among undersampling methods in practice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52044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BE9E9"/>
          </a:solidFill>
          <a:ln/>
        </p:spPr>
      </p:sp>
      <p:pic>
        <p:nvPicPr>
          <p:cNvPr id="13" name="Image 1" descr="icon_cros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0840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55080" y="41148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noisy points right at the boundary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random undersampling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Grid Stability dataset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rows  ·  Logistic Regression  ·  Manufactured 96% / 4% imbalance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minority-class F1 by method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untouched test set for every method. Higher isn't always “better” — see precision/recall on the next slide.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story: precision vs. recall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E7F4F3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resampling)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3832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very few real “stable” cases — but when it does flag one, it's almost always right.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BE9E9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resampling (SMOTE / oversampling)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0" y="1920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2918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almost all real “stable” cases — but also wrongly flags many “unstable” rows.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943600"/>
            <a:ext cx="10881360" cy="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isn't free improvement — it shifts the precision/recall tradeoff. Which direction is “better” depends on which mistake costs more in your use case.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fix for your problem</a:t>
            </a:r>
            <a:endParaRPr lang="en-US" sz="2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256032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3832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matters more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Catching fraud (recall)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Oversampling / NearMiss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filtering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blocking real emails (precision)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or mild techniques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screening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— missing a disease is costly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Oversampling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flags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— false positives erode trust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/ careful undersampling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F3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416052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270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_gau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43484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020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first — it's free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600200" y="4754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 — available on LogisticRegression, SVC, RandomForest, and more. Reweights the loss function to penalize minority misclassification more heavily. No data manipulation, no synthetic rows, no extra training time.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2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6276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lies on imbalanced data — always check precision, recall, and F1 per class.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4505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the TRAINING set only, after the train/test split — never before.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27355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adds data (risk: overfit); undersampling removes data (risk: underfit).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40965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universal “best” technique — match the method to which mistake costs more.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983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9194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class_weight='balanced' before reaching for resampling — it's free.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Imbalance Problem</dc:title>
  <dc:subject>PptxGenJS Presentation</dc:subject>
  <dc:creator>Otabek</dc:creator>
  <cp:lastModifiedBy>Otabek</cp:lastModifiedBy>
  <cp:revision>1</cp:revision>
  <dcterms:created xsi:type="dcterms:W3CDTF">2026-06-27T13:05:35Z</dcterms:created>
  <dcterms:modified xsi:type="dcterms:W3CDTF">2026-06-27T13:05:35Z</dcterms:modified>
</cp:coreProperties>
</file>